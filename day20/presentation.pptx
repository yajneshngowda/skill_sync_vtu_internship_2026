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Savings by Scenario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 (€M)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 Case</c:v>
                  </c:pt>
                  <c:pt idx="2">
                    <c:v>Optimistic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</c:v>
                </c:pt>
                <c:pt idx="1">
                  <c:v>15.3</c:v>
                </c:pt>
                <c:pt idx="2">
                  <c:v>41.4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Transaction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017520"/>
            <a:ext cx="25603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
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&amp; Fintech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017520"/>
            <a:ext cx="25603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017520"/>
            <a:ext cx="25603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
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 | Feb–Mar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Internship Case Study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Credit Card Fraud at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109728"/>
          </a:xfrm>
          <a:prstGeom prst="rect">
            <a:avLst/>
          </a:prstGeom>
          <a:solidFill>
            <a:srgbClr val="E53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$32.34B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192024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577:1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97280"/>
            <a:ext cx="192024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Extreme class imbalance — only 1 in 578 transactions is fraud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Real-time inference required (&lt;300ms at point of sale)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Fraud patterns constantly evolve (concept drift)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False positives harm customer experience and revenue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38404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Over Rules?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0632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Learns from 200+ variables simultaneously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341071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Adapts to new fraud patterns automatically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375818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Probabilistic scoring, not binary rules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0" y="410565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Explainable with SHAP (regulatory compliance)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0" y="445312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Scales to millions of transactions/day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Cardholders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victims of fraud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Security + seamless experience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Issuing Banks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financial fraud liability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Loss minimization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265176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Merchants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card 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Reduce chargebacks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265176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Payment Networks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Network trust &amp; reputation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5176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RBI, ECB, PCI-DSS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Consumer protection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2651760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Fraud Analysts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transactions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Accuracy + efficiency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ML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Details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840480" cy="484632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49047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ULB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840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99339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total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840480" cy="484632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9631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49631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(0.17%)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3840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923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99923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(PCA) + Amount +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3840480" cy="484632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0215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50215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days, Sept 2013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3840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0507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00507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51560"/>
            <a:ext cx="42062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69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ML Pipeline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57276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1810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Hour_sin/cos, Log_Amount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07568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2313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64/16/20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57860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2578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74920" y="28163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 (no leakage)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08152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081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081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74920" y="3319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 → 10% fraud rate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58444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Training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74920" y="38221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AUC-PR metric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087368"/>
            <a:ext cx="320040" cy="3200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087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74920" y="4087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74920" y="43251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per prediction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Evaluated — XGBoost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Logistic Regression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620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564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⚡⚡⚡⚡⚡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050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00584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097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Random Forest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6032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011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2677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6060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8620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4564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7947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050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1965960" cy="3657600"/>
          </a:xfrm>
          <a:prstGeom prst="rect">
            <a:avLst/>
          </a:prstGeom>
          <a:solidFill>
            <a:srgbClr val="0D1B2A"/>
          </a:solidFill>
          <a:ln w="3175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BEST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3716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XGBoost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09160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286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880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136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34747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730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⚡⚡⚡⚡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40690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43251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100584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58000" y="1097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Autoencoder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85800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0116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22677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26060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28620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34564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37947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4050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Results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on Test 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536192"/>
            <a:ext cx="4114800" cy="320040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536192"/>
            <a:ext cx="4081882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221992"/>
            <a:ext cx="4114800" cy="320040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221992"/>
            <a:ext cx="3995471" cy="32004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2907792"/>
            <a:ext cx="4114800" cy="320040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907792"/>
            <a:ext cx="3444088" cy="320040"/>
          </a:xfrm>
          <a:prstGeom prst="rect">
            <a:avLst/>
          </a:prstGeom>
          <a:solidFill>
            <a:srgbClr val="FFB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3593592"/>
            <a:ext cx="4114800" cy="320040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593592"/>
            <a:ext cx="3699205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960120"/>
            <a:ext cx="384048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XGBoost outperforms all 3 competitors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SMOTE improved recall by +22% vs baseline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V14, V12, V4 are top SHAP features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Optimal threshold = 0.30 (cost-sensitive)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Inference time: ~4ms per transaction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85%+ fraud caught vs 62% for rule-based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206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should retrain monthly (drift)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914400"/>
          </a:xfrm>
          <a:prstGeom prst="rect">
            <a:avLst/>
          </a:prstGeom>
          <a:solidFill>
            <a:srgbClr val="455A6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90472"/>
            <a:ext cx="411480" cy="13716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097280"/>
            <a:ext cx="146304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90472"/>
            <a:ext cx="411480" cy="13716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097280"/>
            <a:ext cx="1463040" cy="914400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490472"/>
            <a:ext cx="411480" cy="13716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097280"/>
            <a:ext cx="146304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490472"/>
            <a:ext cx="411480" cy="13716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097280"/>
            <a:ext cx="1463040" cy="914400"/>
          </a:xfrm>
          <a:prstGeom prst="rect">
            <a:avLst/>
          </a:prstGeom>
          <a:solidFill>
            <a:srgbClr val="4A148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286000" cy="73152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2468880"/>
            <a:ext cx="2286000" cy="731520"/>
          </a:xfrm>
          <a:prstGeom prst="rect">
            <a:avLst/>
          </a:prstGeom>
          <a:solidFill>
            <a:srgbClr val="E5393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BLOCKED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2468880"/>
            <a:ext cx="2286000" cy="731520"/>
          </a:xfrm>
          <a:prstGeom prst="rect">
            <a:avLst/>
          </a:prstGeom>
          <a:solidFill>
            <a:srgbClr val="FFB30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ANALYST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370332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70332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00838F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370332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455A64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370332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E53935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703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20624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06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Docker/K8s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57400" y="420624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7B1FA2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4206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420624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FB30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4206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0680" y="420624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E53935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2062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ROI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389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097280"/>
            <a:ext cx="17830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1097280"/>
            <a:ext cx="178308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280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ROI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49440" y="1097280"/>
            <a:ext cx="17830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0" y="1097280"/>
            <a:ext cx="178308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280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9494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0" y="2560320"/>
            <a:ext cx="17830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560320"/>
            <a:ext cx="178308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7432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02920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Fraud Prevented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49440" y="2560320"/>
            <a:ext cx="17830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49440" y="2560320"/>
            <a:ext cx="1783080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7432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94944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0" y="4114800"/>
            <a:ext cx="374904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4133088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Implementation Cost: ~€540K/year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Break-even: &lt; 3 months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Ethics &amp;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Technical Challenges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721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Class Imbalance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SMOTE + scale_pos_weight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6654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Concept Drift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Monthly retraining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609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False Positives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Threshold tuning + analyst review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2783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552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(&lt;50ms)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Redis caching + optimized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221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8496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Model Degradation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965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Grafana monitoring +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Ethics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GDPR: Data minimization &amp; right to erasure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9659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PCI-DSS: Encrypted storage &amp; transmission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24688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SHAP explainability for regulatory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Human-in-the-loop for borderline decisions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Regular fairness audits (no demographic bias)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Zero-trust architecture for data access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the Clear Winner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0.992, F1 0.899 — significantly better than rule-based systems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Critical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199339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improved recall by +22%. Never ignore data imbalance.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05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Matters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199339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enable regulatory compliance and analyst trust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Kafka streaming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Graph Neural Networks for linked-account fraud rings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Multi-region global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Federated learning across partner banks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AI &amp; ML Internship  •  2026  •  Built with XGBoost + SHAP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AI ML Intern</dc:creator>
  <cp:lastModifiedBy>AI ML Intern</cp:lastModifiedBy>
  <cp:revision>1</cp:revision>
  <dcterms:created xsi:type="dcterms:W3CDTF">2026-02-27T07:30:38Z</dcterms:created>
  <dcterms:modified xsi:type="dcterms:W3CDTF">2026-02-27T07:30:38Z</dcterms:modified>
</cp:coreProperties>
</file>